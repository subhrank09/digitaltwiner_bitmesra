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9" r:id="rId20"/>
    <p:sldId id="264" r:id="rId10"/>
    <p:sldId id="265" r:id="rId11"/>
    <p:sldId id="270" r:id="rId2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 participants (cross-validated)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1 / day</c:v>
                </c:pt>
                <c:pt idx="1">
                  <c:v>2 / day</c:v>
                </c:pt>
                <c:pt idx="2">
                  <c:v>3 / day</c:v>
                </c:pt>
                <c:pt idx="3">
                  <c:v>5 /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31.5</c:v>
                </c:pt>
                <c:pt idx="1">
                  <c:v>50.5</c:v>
                </c:pt>
                <c:pt idx="2">
                  <c:v>62.1</c:v>
                </c:pt>
                <c:pt idx="3">
                  <c:v>79.4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Synthetic test patients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Sheet1!$A$2:$A$5</c:f>
              <c:strCache>
                <c:ptCount val="4"/>
                <c:pt idx="0">
                  <c:v>1 / day</c:v>
                </c:pt>
                <c:pt idx="1">
                  <c:v>2 / day</c:v>
                </c:pt>
                <c:pt idx="2">
                  <c:v>3 / day</c:v>
                </c:pt>
                <c:pt idx="3">
                  <c:v>5 / day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26.9</c:v>
                </c:pt>
                <c:pt idx="1">
                  <c:v>56.8</c:v>
                </c:pt>
                <c:pt idx="2">
                  <c:v>70.1</c:v>
                </c:pt>
                <c:pt idx="3">
                  <c:v>94.6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134E4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100">
                <a:solidFill>
                  <a:srgbClr val="4B556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B556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True IR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Sheet1!$A$2:$A$6</c:f>
              <c:strCache>
                <c:ptCount val="5"/>
                <c:pt idx="0">
                  <c:v>P0000</c:v>
                </c:pt>
                <c:pt idx="1">
                  <c:v>P0001</c:v>
                </c:pt>
                <c:pt idx="2">
                  <c:v>P0002</c:v>
                </c:pt>
                <c:pt idx="3">
                  <c:v>P0003</c:v>
                </c:pt>
                <c:pt idx="4">
                  <c:v>P0004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6.28</c:v>
                </c:pt>
                <c:pt idx="1">
                  <c:v>5.98</c:v>
                </c:pt>
                <c:pt idx="2">
                  <c:v>3.66</c:v>
                </c:pt>
                <c:pt idx="3">
                  <c:v>2.24</c:v>
                </c:pt>
                <c:pt idx="4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Estimated IR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Sheet1!$A$2:$A$6</c:f>
              <c:strCache>
                <c:ptCount val="5"/>
                <c:pt idx="0">
                  <c:v>P0000</c:v>
                </c:pt>
                <c:pt idx="1">
                  <c:v>P0001</c:v>
                </c:pt>
                <c:pt idx="2">
                  <c:v>P0002</c:v>
                </c:pt>
                <c:pt idx="3">
                  <c:v>P0003</c:v>
                </c:pt>
                <c:pt idx="4">
                  <c:v>P0004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5.93</c:v>
                </c:pt>
                <c:pt idx="1">
                  <c:v>5.34</c:v>
                </c:pt>
                <c:pt idx="2">
                  <c:v>2.78</c:v>
                </c:pt>
                <c:pt idx="3">
                  <c:v>1.04</c:v>
                </c:pt>
                <c:pt idx="4">
                  <c:v>0.27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34E4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100">
                <a:solidFill>
                  <a:srgbClr val="4B556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4B5563"/>
                    </a:solidFill>
                    <a:latin typeface="Calibri"/>
                  </a:rPr>
                  <a:t>Walk benefit (pct-points)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B556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the one-sentence pitch: a virtual patient that sees a glucose spike coming two hours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for the diabetes figure: ICMR-INDIAB, Anjana RM et al., Lancet Diabetes &amp; Endocrinology 2023 (about 101 million people). The exact figure and citation are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streams used for training are synthetic. Real data enters only in the validation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Fused AUROC 0.942 +/- 0.005, AUPRC 0.770 +/- 0.024 (3 patient-level splits, mean +/- sd, from metrics.json). Primary split (23 test patients, prevalence 19.3%): 87.5% sensitivity, 87.8% specificity, 63.2% precision, peak MAE about 11.5 mg/dL, 510 of 521 episodes pre-warned at 5.8 alerts per patient-day. Labels come from our own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report this as measured. The fusion benefit is not reproduced on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data: CGMacros v1.0.0 (PhysioNet), open access, not stored in the repo. A = trained on synthetic only, tested on real. B = trained and tested on real with participant-grouped CV. Numbers exactly as measured. Dataset licence/citation to be added from the PhysioNet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60-minute cool-down between alerts. Real: cross-validated out-of-fold predictions. Illustrative because thresholds are chosen on the same predictions they are reported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calibrate_ir searches IR 0.30 to 1.60 (step 0.05) using different meal/noise seeds and matches summary statistics only (mean, SD, % time above 180, mean daily peak). Benefit = reduction in time above 180 mg/dL, percentage points, 15-minute walk after main meals.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GlucoTwin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that warns of glucose excursions 2 hours ahead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fusing EHR and wearable / CGM data (Type 2 Diabetes)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 ·  Reimagining and Reforming Healthcare in India Summit 2026  ·  Digital Twin Challenge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Digital Twiner   ·   College: Birla Institute of Technology, Mesra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diabetes needs a twin, not a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live with diabetes in India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8980" y="11887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06140" y="1280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doctor time every few months, per patient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1887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280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glucose, heart rate and sleep data change on a wearable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care reacts after the spike. </a:t>
            </a:r>
            <a:pPr indent="0" marL="0">
              <a:buNone/>
            </a:pPr>
            <a:r>
              <a:rPr lang="en-US" sz="17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keeps a living virtual replica of each patient, updated by wearables and joined with the health record, so the care team can act before an adverse event.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forecast, explain, test a fix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659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above 180 mg/dL at any time in the next 2 hours (currently at or below 160)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7432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Diabetologist or care team looking at a virtual patient console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5204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+ expected peak + risk level + 'why' + what-if simulation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3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6949440" cy="38040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streams, simulated for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/ historical (EHR)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BMI, HbA1c, fasting glucose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BP, LDL, triglycerides, eGFR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diagnoses, medications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TCF7L2 genetic risk alleles, family history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/ real-time (wearables)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glucose every 5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and HRV (RMSSD)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and activity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stages (awake, light, deep, REM)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virtual patients × 14 days × 5-minute resolution. Indian meal patterns, sleep debt, stress and walking habits drive the physiology. Training uses no real patient data. The real open dataset CGMacros (de-identified, PhysioNet) is used only for validation and is not redistributed.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 is a hybrid: data-driven + mechanistic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(ML)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on 44 fused, leak-free features. Calibrated probability, expected 2 h peak, alert threshold tuned for about 80% sensitivity.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74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(simulator)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68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response, insulin resistance, sleep debt, stress and exercise. Re-runs the same meals and noise with one change. Insulin resistance is estimated from the patient's first 5 days of CGM (tested in simulation only).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63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(drivers)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468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shows which input group pushes risk up or down: glucose trend, meal-time habit, sleep, clinical profile, stress, movement.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held-out synthetic patients</a:t>
            </a:r>
            <a:endParaRPr lang="en-US" sz="3000" dirty="0"/>
          </a:p>
        </p:txBody>
      </p:sp>
      <p:pic>
        <p:nvPicPr>
          <p:cNvPr id="3" name="Image 0" descr="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394960" cy="23737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0058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263640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AUROC, fused model (3 patient-level splits)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26480" y="2377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2636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pre-warned (primary split), at ~6 alerts per patient-day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alone: 0.67. Logistic regression on glucose + trend: 0.61. Prevalence about 17%.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from our simulator, so this measures pipeline learning, not clinical accuracy.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reading of the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43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history leads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9047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CGM and meal-time habit carry most of the signal (importance 0.17 and 0.12 AUROC). EHR alone cannot time a spike (AUROC 0.67).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helps only at cold start, not with history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8775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CGM history: AUPRC 0.771 (CGM), 0.769 (wearables), 0.770 (fused), so no gain. Cold start: 0.739 to 0.762, within one sd (3 splits). On real data, adding EHR fields gave no gain (AUROC 0.827 vs 0.817).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375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HRV, sleep and steps add little to the forecast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85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only about 0.001 to 0.006 AUROC in simulation, even though they drive the simulated physiology. They mainly add explanatory context for the clinician.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134E4A"/>
                </a:solidFill>
                <a:latin typeface="Cambria"/>
              </a:rPr>
              <a:t>Real-data check: CGMacros, 45 adults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GlucoTwin  ·  trained on synthetic data, checked on CGMacros  · 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83080"/>
                <a:gridCol w="105156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91440" marR="91440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AUROC (95% CI)</a:t>
                      </a:r>
                    </a:p>
                  </a:txBody>
                  <a:tcPr marL="91440" marR="91440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AUPRC</a:t>
                      </a:r>
                    </a:p>
                  </a:txBody>
                  <a:tcPr marL="91440" marR="91440" marT="27432" marB="27432" anchor="ctr">
                    <a:solidFill>
                      <a:srgbClr val="0F766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A. Synthetic-trained, tested on real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0.826 (0.795–0.853)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0.422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B. Real-trained, participant-grouped CV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0.827 (0.795–0.852)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0.454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B + 7 shared EHR fields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0.817 (0.783–0.842)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A, T2D only (n=14)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0.835 (0.811–0.856)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B, T2D only (n=14)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0.820 (0.799–0.835)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34E4A"/>
                          </a:solidFill>
                          <a:latin typeface="Calibri"/>
                        </a:rPr>
                        <a:t>0.577</a:t>
                      </a:r>
                    </a:p>
                  </a:txBody>
                  <a:tcPr marL="91440" marR="91440" marT="27432" marB="27432"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0058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097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F766E"/>
                </a:solidFill>
                <a:latin typeface="Cambria"/>
              </a:rPr>
              <a:t>0.94 → ~0.83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Calibri"/>
              </a:rPr>
              <a:t>AUROC, synthetic patients vs real participants (sim-to-real gap)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4688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D97706"/>
                </a:solidFill>
                <a:latin typeface="Cambria"/>
              </a:rPr>
              <a:t>No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Calibri"/>
              </a:rPr>
              <a:t>from EHR fusion on real data (45 participants, 7 shared EHR fields)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4B5563"/>
                </a:solidFill>
                <a:latin typeface="Calibri"/>
              </a:rPr>
              <a:t>15 healthy, 16 prediabetes, 14 T2D; about 10 days each; Dexcom G6 Pro; 25,306 forecast times; event prevalence 12.1%. CGM and time-of-day features only. CI resamples whole participants.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1">
                <a:solidFill>
                  <a:srgbClr val="B91C1C"/>
                </a:solidFill>
                <a:latin typeface="Calibri"/>
              </a:rPr>
              <a:t>One US site, mostly mild T2D, no HRV/sleep/steps in this dataset: not clinical evidence. Libre readings gave a higher AUROC (about 0.89 to 0.90, prevalence 5.4%, values possibly interpolated); Dexcom was chosen in advance as primary.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134E4A"/>
                </a:solidFill>
                <a:latin typeface="Cambria"/>
              </a:rPr>
              <a:t>Alert burden: episodes warned vs alerts per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GlucoTwin  ·  trained on synthetic data, checked on CGMacros  · 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96012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0058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097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F766E"/>
                </a:solidFill>
                <a:latin typeface="Cambria"/>
              </a:rPr>
              <a:t>~50%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Calibri"/>
              </a:rPr>
              <a:t>of episodes warned at 2 alerts per patient-day (real participants)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4688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D97706"/>
                </a:solidFill>
                <a:latin typeface="Cambria"/>
              </a:rPr>
              <a:t>97.9%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Calibri"/>
              </a:rPr>
              <a:t>warned at the original ~5.8 alerts per day (synthetic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005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4B5563"/>
                </a:solidFill>
                <a:latin typeface="Calibri"/>
              </a:rPr>
              <a:t>Proposed two-tier design: a continuous risk bar on the dashboard, push alerts only at a low alert budget. Thresholds were picked on the same predictions they are reported on, so figures are illustrative; the operating point should be set with clinicians.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UI: the doctor's console</a:t>
            </a:r>
            <a:endParaRPr lang="en-US" sz="3000" dirty="0"/>
          </a:p>
        </p:txBody>
      </p:sp>
      <p:pic>
        <p:nvPicPr>
          <p:cNvPr id="3" name="Image 0" descr="clinicia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4400"/>
            <a:ext cx="6858000" cy="38397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What-if: walk 15 minutes after meals</a:t>
            </a:r>
            <a:endParaRPr lang="en-US" sz="3000" dirty="0"/>
          </a:p>
        </p:txBody>
      </p:sp>
      <p:pic>
        <p:nvPicPr>
          <p:cNvPr id="3" name="Image 0" descr="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24579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105156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98932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12.9% → 6.1%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above 180 mg/dL (demo patient P0030, true insulin resistance)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852160" y="242316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8932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 → 205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peak, mg/dL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meals, same noise, one change. Effect size reflects simulator assumptions, not clinical evidence. With insulin resistance estimated from CGM the benefit is smaller (next slide).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134E4A"/>
                </a:solidFill>
                <a:latin typeface="Cambria"/>
              </a:rPr>
              <a:t>Twin calibration: estimating insulin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Calibri"/>
              </a:rPr>
              <a:t>GlucoTwin  ·  trained on synthetic data, checked on CGMacros  · 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960120"/>
          <a:ext cx="5486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0058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097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F766E"/>
                </a:solidFill>
                <a:latin typeface="Cambria"/>
              </a:rPr>
              <a:t>r = 0.88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Calibri"/>
              </a:rPr>
              <a:t>estimated vs true IR, 150 synthetic patients (first 5 days of CGM)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4688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D97706"/>
                </a:solidFill>
                <a:latin typeface="Cambria"/>
              </a:rPr>
              <a:t>0.094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Calibri"/>
              </a:rPr>
              <a:t>IR error (MAE) vs 0.164 for the cohort-mean baseline; true IR sd 0.196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4B5563"/>
                </a:solidFill>
                <a:latin typeface="Calibri"/>
              </a:rPr>
              <a:t>In all 5 patients checked, the walk benefit was underestimated with estimated IR (small example). P0003's estimate hit the grid edge (0.30).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1">
                <a:solidFill>
                  <a:srgbClr val="B91C1C"/>
                </a:solidFill>
                <a:latin typeface="Calibri"/>
              </a:rPr>
              <a:t>Optimistic: the same simulator generates and fits the data. Walk habit, resting HR, meal timings and noise seed are still true values. Not tested on real patients.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responsible use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data. Real check: 45 adults, one US site, mostly mild T2D; not clinical evidence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gap: AUROC 0.94 on synthetic, about 0.83 on real. EHR fusion gain not seen on real data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the CGM sensor (Dexcom 0.83 primary; Libre about 0.89 to 0.90, possibly interpolated)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calibration estimates only insulin resistance and was tested in simulation only (optimistic); other parameters are true values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180 mg/dL threshold; alert-fatigue risk; operating points not chosen on separate data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results are simulations, not prescriptions. Research prototype, not a medical device, no regulatory clearance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larger real datasets (e.g. ShanghaiT2DM) and anonymised clinical records, with ethics approval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more twin parameters from each patient's own data (walk habit, meal timing), and test on real patients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Clinician-tuned alert policy: two-tier design, with the alert budget set by diabetologists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uncertainty intervals and re-test sensor dependence (Dexcom vs Libre)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github.com/subhrank09/DigitalTwiner_BITMESRA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 ·  trained on synthetic data, checked on CGMacros  ·  research prototype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GlucoTwin: Digital Twin for Type 2 Diabetes</dc:title>
  <dc:subject>PptxGenJS Presentation</dc:subject>
  <dc:creator>PptxGenJS</dc:creator>
  <cp:lastModifiedBy>PptxGenJS</cp:lastModifiedBy>
  <cp:revision>1</cp:revision>
  <dcterms:created xsi:type="dcterms:W3CDTF">2026-10-02T06:29:54Z</dcterms:created>
  <dcterms:modified xsi:type="dcterms:W3CDTF">2026-10-02T06:29:54Z</dcterms:modified>
</cp:coreProperties>
</file>